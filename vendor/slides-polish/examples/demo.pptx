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C6B80"/>
                </a:solidFill>
                <a:latin typeface="Calibri"/>
              </a:rPr>
              <a:t>BEFORE  ·  raw python-pptx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 i="0">
                <a:solidFill>
                  <a:srgbClr val="1B2B4A"/>
                </a:solidFill>
                <a:latin typeface="Georgia"/>
              </a:rPr>
              <a:t>Atoms compose into Units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2432304"/>
            <a:ext cx="4114800" cy="3200400"/>
          </a:xfrm>
          <a:prstGeom prst="roundRect">
            <a:avLst/>
          </a:prstGeom>
          <a:solidFill>
            <a:srgbClr val="CF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4114800" cy="3200400"/>
          </a:xfrm>
          <a:prstGeom prst="round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D82D0"/>
                </a:solidFill>
                <a:latin typeface="Calibri"/>
              </a:rPr>
              <a:t>VOCAB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3566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0" i="1">
                <a:solidFill>
                  <a:srgbClr val="1B2B4A"/>
                </a:solidFill>
                <a:latin typeface="Georgia"/>
              </a:rPr>
              <a:t>perro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5C6B80"/>
                </a:solidFill>
                <a:latin typeface="Calibri"/>
              </a:rPr>
              <a:t>(dog)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52944" y="2432304"/>
            <a:ext cx="4114800" cy="3200400"/>
          </a:xfrm>
          <a:prstGeom prst="roundRect">
            <a:avLst/>
          </a:prstGeom>
          <a:solidFill>
            <a:srgbClr val="CF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2377440"/>
            <a:ext cx="4114800" cy="3200400"/>
          </a:xfrm>
          <a:prstGeom prst="round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6060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D82D0"/>
                </a:solidFill>
                <a:latin typeface="Calibri"/>
              </a:rPr>
              <a:t>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91840"/>
            <a:ext cx="3566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 i="0">
                <a:solidFill>
                  <a:srgbClr val="1B2B4A"/>
                </a:solidFill>
                <a:latin typeface="Georgia"/>
              </a:rPr>
              <a:t>Ordering 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4805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5C6B80"/>
                </a:solidFill>
                <a:latin typeface="Calibri"/>
              </a:rPr>
              <a:t>a real-world 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3977639"/>
            <a:ext cx="2697480" cy="0"/>
          </a:xfrm>
          <a:prstGeom prst="bentConnector3">
            <a:avLst/>
          </a:prstGeom>
          <a:ln w="76200">
            <a:solidFill>
              <a:srgbClr val="79DF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0" y="4114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4DA82A"/>
                </a:solidFill>
                <a:latin typeface="Calibri"/>
              </a:rPr>
              <a:t>composes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5C6B80"/>
                </a:solidFill>
                <a:latin typeface="Georgia"/>
              </a:rPr>
              <a:t>Drop shadows are offset-rect ghosts. The connector arrow has no arrowhead in Keynote.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DA82A"/>
                </a:solidFill>
                <a:latin typeface="Calibri"/>
              </a:rPr>
              <a:t>AFTER  ·  HTML/SVG → PNG → 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 i="0">
                <a:solidFill>
                  <a:srgbClr val="1B2B4A"/>
                </a:solidFill>
                <a:latin typeface="Georgia"/>
              </a:rPr>
              <a:t>Atoms compose into Units</a:t>
            </a:r>
          </a:p>
        </p:txBody>
      </p:sp>
      <p:pic>
        <p:nvPicPr>
          <p:cNvPr id="4" name="Picture 3" descr="example_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371600"/>
            <a:ext cx="11430000" cy="51954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