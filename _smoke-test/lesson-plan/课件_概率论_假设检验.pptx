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分钟。逐条念目标与验收方式，让学生知道这节课结束时能做到什么。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分钟。先收集直觉判断，不给出答案，制造认知冲突。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分钟。用抛硬币频率模拟建立直觉，不急着抽象。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按答题情况分流：选 A 过半则换表征重讲频率直觉。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分钟。板书推导，符号逐个说明含义。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分钟。口答即可，唤醒上一学时。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分钟。逐句辨析两种口径，这是本节课最大难点。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分钟。小组讨论改写句，互评。提示：不显著不等于无差异。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分钟。三档同时下发，巡视收集典型错误，统一讲评。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分钟。学生归纳代替教师总结。出口票结果决定下节课 t 检验起点。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2D3D"/>
                </a:solidFill>
                <a:latin typeface="Arial"/>
                <a:ea typeface="微软雅黑"/>
                <a:cs typeface="Arial"/>
              </a:rPr>
              <a:t>假设检验（z 检验与 p 值）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0B5C8A"/>
                </a:solidFill>
                <a:latin typeface="Arial"/>
                <a:ea typeface="宋体"/>
                <a:cs typeface="Arial"/>
              </a:rPr>
              <a:t>概率论与数理统计 · 本科二年级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480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Arial"/>
                <a:ea typeface="宋体"/>
                <a:cs typeface="Arial"/>
              </a:rPr>
              <a:t>【待补：授课教师】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148840"/>
            <a:ext cx="77724" cy="1005840"/>
          </a:xfrm>
          <a:prstGeom prst="rect">
            <a:avLst/>
          </a:prstGeom>
          <a:solidFill>
            <a:srgbClr val="0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  <a:latin typeface="Arial"/>
                <a:ea typeface="微软雅黑"/>
                <a:cs typeface="Arial"/>
              </a:rPr>
              <a:t>本节课你能做到什么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10881360" cy="20116"/>
          </a:xfrm>
          <a:prstGeom prst="rect">
            <a:avLst/>
          </a:prstGeom>
          <a:solidFill>
            <a:srgbClr val="0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写出 z 检验统计量并说明各符号含义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对 3 个新情境写出完整检验步骤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用规范语句表述统计结论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  <a:latin typeface="Arial"/>
                <a:ea typeface="微软雅黑"/>
                <a:cs typeface="Arial"/>
              </a:rPr>
              <a:t>导入：药厂宣称可信吗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10881360" cy="20116"/>
          </a:xfrm>
          <a:prstGeom prst="rect">
            <a:avLst/>
          </a:prstGeom>
          <a:solidFill>
            <a:srgbClr val="0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宣称：新药有效率 80%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抽样 36 人，样本有效率 71%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你的直觉判断？差距是偶然还是实质？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  <a:latin typeface="Arial"/>
                <a:ea typeface="微软雅黑"/>
                <a:cs typeface="Arial"/>
              </a:rPr>
              <a:t>检验思想：数据有多罕见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10881360" cy="20116"/>
          </a:xfrm>
          <a:prstGeom prst="rect">
            <a:avLst/>
          </a:prstGeom>
          <a:solidFill>
            <a:srgbClr val="0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先假设宣称成立（H₀）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在这个假设下，当前数据出现的可能性有多大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频率直觉：越罕见，越怀疑假设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  <a:latin typeface="Arial"/>
                <a:ea typeface="微软雅黑"/>
                <a:cs typeface="Arial"/>
              </a:rPr>
              <a:t>检核 1：|z| 越大说明什么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10881360" cy="20116"/>
          </a:xfrm>
          <a:prstGeom prst="rect">
            <a:avLst/>
          </a:prstGeom>
          <a:solidFill>
            <a:srgbClr val="0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A. H₀ 越可能是真的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B. 样本均值算错了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C. 数据在 H₀ 下越罕见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  <a:latin typeface="Arial"/>
                <a:ea typeface="微软雅黑"/>
                <a:cs typeface="Arial"/>
              </a:rPr>
              <a:t>z 统计量与拒绝域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10881360" cy="20116"/>
          </a:xfrm>
          <a:prstGeom prst="rect">
            <a:avLst/>
          </a:prstGeom>
          <a:solidFill>
            <a:srgbClr val="0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z = (x̄ − μ₀) / (σ/√n)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拒绝域：|z| &gt; z(α/2)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标准正态图：两侧各 α/2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  <a:latin typeface="Arial"/>
                <a:ea typeface="微软雅黑"/>
                <a:cs typeface="Arial"/>
              </a:rPr>
              <a:t>课间回顾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10881360" cy="20116"/>
          </a:xfrm>
          <a:prstGeom prst="rect">
            <a:avLst/>
          </a:prstGeom>
          <a:solidFill>
            <a:srgbClr val="0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最快 1 道题：写出 z 统计量表达式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  <a:latin typeface="Arial"/>
                <a:ea typeface="微软雅黑"/>
                <a:cs typeface="Arial"/>
              </a:rPr>
              <a:t>p 值的正确定义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10881360" cy="20116"/>
          </a:xfrm>
          <a:prstGeom prst="rect">
            <a:avLst/>
          </a:prstGeom>
          <a:solidFill>
            <a:srgbClr val="0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p = 在 H₀ 成立时，得到当前或更极端数据的概率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不是『H₀ 为真的概率』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p &lt; α → 拒绝 H₀；p ≥ α → 不拒绝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  <a:latin typeface="Arial"/>
                <a:ea typeface="微软雅黑"/>
                <a:cs typeface="Arial"/>
              </a:rPr>
              <a:t>争议案例：p=0.051 怎么写结论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10881360" cy="20116"/>
          </a:xfrm>
          <a:prstGeom prst="rect">
            <a:avLst/>
          </a:prstGeom>
          <a:solidFill>
            <a:srgbClr val="0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某论文：p=0.051，故两组无差异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小组任务：改写这句话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  <a:latin typeface="Arial"/>
                <a:ea typeface="微软雅黑"/>
                <a:cs typeface="Arial"/>
              </a:rPr>
              <a:t>分层任务（三选一）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10881360" cy="20116"/>
          </a:xfrm>
          <a:prstGeom prst="rect">
            <a:avLst/>
          </a:prstGeom>
          <a:solidFill>
            <a:srgbClr val="0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同一情境：零件直径抽样 n=36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基础层：查表判读 + 说明理由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达标层：完整五步流程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拓展层：评述一篇论文的检验表述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  <a:latin typeface="Arial"/>
                <a:ea typeface="微软雅黑"/>
                <a:cs typeface="Arial"/>
              </a:rPr>
              <a:t>小结与出口票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10881360" cy="20116"/>
          </a:xfrm>
          <a:prstGeom prst="rect">
            <a:avLst/>
          </a:prstGeom>
          <a:solidFill>
            <a:srgbClr val="0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你自己说出本节 3 个要点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rial"/>
                <a:ea typeface="微软雅黑"/>
                <a:cs typeface="Arial"/>
              </a:rPr>
              <a:t>▍ 出口票：n=25、σ 未知，能用 z 检验吗？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