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开场 30 秒只讲这一个场景，不讲行业。</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评委必问测试条件，答不出就是失分点。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这一页故意超过 220 字符，inspect 应当报警。</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011680"/>
            <a:ext cx="10515600" cy="1828800"/>
          </a:xfrm>
          <a:prstGeom prst="rect">
            <a:avLst/>
          </a:prstGeom>
          <a:noFill/>
        </p:spPr>
        <p:txBody>
          <a:bodyPr wrap="square">
            <a:spAutoFit/>
          </a:bodyPr>
          <a:lstStyle/>
          <a:p>
            <a:pPr algn="l"/>
            <a:r>
              <a:rPr sz="4000" b="1">
                <a:solidFill>
                  <a:srgbClr val="1F2D3D"/>
                </a:solidFill>
                <a:latin typeface="Arial"/>
                <a:ea typeface="微软雅黑"/>
                <a:cs typeface="Arial"/>
              </a:rPr>
              <a:t>【待补：项目名称】</a:t>
            </a:r>
          </a:p>
          <a:p>
            <a:pPr>
              <a:spcBef>
                <a:spcPts val="1400"/>
              </a:spcBef>
            </a:pPr>
            <a:r>
              <a:rPr sz="2000" b="0">
                <a:solidFill>
                  <a:srgbClr val="0B5C8A"/>
                </a:solidFill>
                <a:latin typeface="Arial"/>
                <a:ea typeface="宋体"/>
                <a:cs typeface="Arial"/>
              </a:rPr>
              <a:t>【待补：赛道未提供，请按赛事通知填写】</a:t>
            </a:r>
          </a:p>
        </p:txBody>
      </p:sp>
      <p:sp>
        <p:nvSpPr>
          <p:cNvPr id="3" name="TextBox 2"/>
          <p:cNvSpPr txBox="1"/>
          <p:nvPr/>
        </p:nvSpPr>
        <p:spPr>
          <a:xfrm>
            <a:off x="822960" y="4480560"/>
            <a:ext cx="10515600" cy="731520"/>
          </a:xfrm>
          <a:prstGeom prst="rect">
            <a:avLst/>
          </a:prstGeom>
          <a:noFill/>
        </p:spPr>
        <p:txBody>
          <a:bodyPr wrap="square">
            <a:spAutoFit/>
          </a:bodyPr>
          <a:lstStyle/>
          <a:p>
            <a:r>
              <a:rPr sz="1600" b="0">
                <a:solidFill>
                  <a:srgbClr val="333333"/>
                </a:solidFill>
                <a:latin typeface="Arial"/>
                <a:ea typeface="宋体"/>
                <a:cs typeface="Arial"/>
              </a:rPr>
              <a:t>【待补：负责人】</a:t>
            </a:r>
          </a:p>
        </p:txBody>
      </p:sp>
      <p:sp>
        <p:nvSpPr>
          <p:cNvPr id="4" name="Rectangle 3"/>
          <p:cNvSpPr/>
          <p:nvPr/>
        </p:nvSpPr>
        <p:spPr>
          <a:xfrm>
            <a:off x="502920" y="2148840"/>
            <a:ext cx="77724" cy="1005840"/>
          </a:xfrm>
          <a:prstGeom prst="rect">
            <a:avLst/>
          </a:prstGeom>
          <a:solidFill>
            <a:srgbClr val="0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2800" b="1">
                <a:solidFill>
                  <a:srgbClr val="1F2D3D"/>
                </a:solidFill>
                <a:latin typeface="Arial"/>
                <a:ea typeface="微软雅黑"/>
                <a:cs typeface="Arial"/>
              </a:rPr>
              <a:t>问题：谁在什么时候遇到什么麻烦</a:t>
            </a:r>
          </a:p>
        </p:txBody>
      </p:sp>
      <p:sp>
        <p:nvSpPr>
          <p:cNvPr id="3" name="Rectangle 2"/>
          <p:cNvSpPr/>
          <p:nvPr/>
        </p:nvSpPr>
        <p:spPr>
          <a:xfrm>
            <a:off x="658368" y="1115568"/>
            <a:ext cx="10881360" cy="20116"/>
          </a:xfrm>
          <a:prstGeom prst="rect">
            <a:avLst/>
          </a:prstGeom>
          <a:solidFill>
            <a:srgbClr val="0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07040" cy="4937760"/>
          </a:xfrm>
          <a:prstGeom prst="rect">
            <a:avLst/>
          </a:prstGeom>
          <a:noFill/>
        </p:spPr>
        <p:txBody>
          <a:bodyPr wrap="square">
            <a:spAutoFit/>
          </a:bodyPr>
          <a:lstStyle/>
          <a:p>
            <a:pPr>
              <a:spcAft>
                <a:spcPts val="1000"/>
              </a:spcAft>
            </a:pPr>
            <a:r>
              <a:rPr sz="1800" b="0">
                <a:solidFill>
                  <a:srgbClr val="333333"/>
                </a:solidFill>
                <a:latin typeface="Arial"/>
                <a:ea typeface="微软雅黑"/>
                <a:cs typeface="Arial"/>
              </a:rPr>
              <a:t>▍ 【待补：具体场景，含时间地点人物】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2800" b="1">
                <a:solidFill>
                  <a:srgbClr val="1F2D3D"/>
                </a:solidFill>
                <a:latin typeface="Arial"/>
                <a:ea typeface="微软雅黑"/>
                <a:cs typeface="Arial"/>
              </a:rPr>
              <a:t>验证结果</a:t>
            </a:r>
          </a:p>
        </p:txBody>
      </p:sp>
      <p:sp>
        <p:nvSpPr>
          <p:cNvPr id="3" name="Rectangle 2"/>
          <p:cNvSpPr/>
          <p:nvPr/>
        </p:nvSpPr>
        <p:spPr>
          <a:xfrm>
            <a:off x="658368" y="1115568"/>
            <a:ext cx="10881360" cy="20116"/>
          </a:xfrm>
          <a:prstGeom prst="rect">
            <a:avLst/>
          </a:prstGeom>
          <a:solidFill>
            <a:srgbClr val="0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371600"/>
          <a:ext cx="10698480" cy="768096"/>
        </p:xfrm>
        <a:graphic>
          <a:graphicData uri="http://schemas.openxmlformats.org/drawingml/2006/table">
            <a:tbl>
              <a:tblPr firstRow="1" bandRow="1">
                <a:tableStyleId>{5C22544A-7EE6-4342-B048-85BDC9FD1C3A}</a:tableStyleId>
              </a:tblPr>
              <a:tblGrid>
                <a:gridCol w="2674620"/>
                <a:gridCol w="2674620"/>
                <a:gridCol w="2674620"/>
                <a:gridCol w="2674620"/>
              </a:tblGrid>
              <a:tr h="384048">
                <a:tc>
                  <a:txBody>
                    <a:bodyPr/>
                    <a:lstStyle/>
                    <a:p>
                      <a:r>
                        <a:rPr sz="1400" b="1">
                          <a:solidFill>
                            <a:srgbClr val="333333"/>
                          </a:solidFill>
                          <a:latin typeface="Arial"/>
                          <a:ea typeface="微软雅黑"/>
                          <a:cs typeface="Arial"/>
                        </a:rPr>
                        <a:t>指标</a:t>
                      </a:r>
                    </a:p>
                  </a:txBody>
                  <a:tcPr/>
                </a:tc>
                <a:tc>
                  <a:txBody>
                    <a:bodyPr/>
                    <a:lstStyle/>
                    <a:p>
                      <a:r>
                        <a:rPr sz="1400" b="1">
                          <a:solidFill>
                            <a:srgbClr val="333333"/>
                          </a:solidFill>
                          <a:latin typeface="Arial"/>
                          <a:ea typeface="微软雅黑"/>
                          <a:cs typeface="Arial"/>
                        </a:rPr>
                        <a:t>我们的方案</a:t>
                      </a:r>
                    </a:p>
                  </a:txBody>
                  <a:tcPr/>
                </a:tc>
                <a:tc>
                  <a:txBody>
                    <a:bodyPr/>
                    <a:lstStyle/>
                    <a:p>
                      <a:r>
                        <a:rPr sz="1400" b="1">
                          <a:solidFill>
                            <a:srgbClr val="333333"/>
                          </a:solidFill>
                          <a:latin typeface="Arial"/>
                          <a:ea typeface="微软雅黑"/>
                          <a:cs typeface="Arial"/>
                        </a:rPr>
                        <a:t>对照方案</a:t>
                      </a:r>
                    </a:p>
                  </a:txBody>
                  <a:tcPr/>
                </a:tc>
                <a:tc>
                  <a:txBody>
                    <a:bodyPr/>
                    <a:lstStyle/>
                    <a:p>
                      <a:r>
                        <a:rPr sz="1400" b="1">
                          <a:solidFill>
                            <a:srgbClr val="333333"/>
                          </a:solidFill>
                          <a:latin typeface="Arial"/>
                          <a:ea typeface="微软雅黑"/>
                          <a:cs typeface="Arial"/>
                        </a:rPr>
                        <a:t>测试条件</a:t>
                      </a:r>
                    </a:p>
                  </a:txBody>
                  <a:tcPr/>
                </a:tc>
              </a:tr>
              <a:tr h="384048">
                <a:tc>
                  <a:txBody>
                    <a:bodyPr/>
                    <a:lstStyle/>
                    <a:p>
                      <a:r>
                        <a:rPr sz="1300" b="0">
                          <a:solidFill>
                            <a:srgbClr val="333333"/>
                          </a:solidFill>
                          <a:latin typeface="Arial"/>
                          <a:ea typeface="微软雅黑"/>
                          <a:cs typeface="Arial"/>
                        </a:rPr>
                        <a:t>【待补】</a:t>
                      </a:r>
                    </a:p>
                  </a:txBody>
                  <a:tcPr/>
                </a:tc>
                <a:tc>
                  <a:txBody>
                    <a:bodyPr/>
                    <a:lstStyle/>
                    <a:p>
                      <a:r>
                        <a:rPr sz="1300" b="0">
                          <a:solidFill>
                            <a:srgbClr val="333333"/>
                          </a:solidFill>
                          <a:latin typeface="Arial"/>
                          <a:ea typeface="微软雅黑"/>
                          <a:cs typeface="Arial"/>
                        </a:rPr>
                        <a:t>【待补】</a:t>
                      </a:r>
                    </a:p>
                  </a:txBody>
                  <a:tcPr/>
                </a:tc>
                <a:tc>
                  <a:txBody>
                    <a:bodyPr/>
                    <a:lstStyle/>
                    <a:p>
                      <a:r>
                        <a:rPr sz="1300" b="0">
                          <a:solidFill>
                            <a:srgbClr val="333333"/>
                          </a:solidFill>
                          <a:latin typeface="Arial"/>
                          <a:ea typeface="微软雅黑"/>
                          <a:cs typeface="Arial"/>
                        </a:rPr>
                        <a:t>【待补】</a:t>
                      </a:r>
                    </a:p>
                  </a:txBody>
                  <a:tcPr/>
                </a:tc>
                <a:tc>
                  <a:txBody>
                    <a:bodyPr/>
                    <a:lstStyle/>
                    <a:p>
                      <a:r>
                        <a:rPr sz="1300" b="0">
                          <a:solidFill>
                            <a:srgbClr val="333333"/>
                          </a:solidFill>
                          <a:latin typeface="Arial"/>
                          <a:ea typeface="微软雅黑"/>
                          <a:cs typeface="Arial"/>
                        </a:rPr>
                        <a:t>【待补：样本量/环境/时间】</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2800" b="1">
                <a:solidFill>
                  <a:srgbClr val="1F2D3D"/>
                </a:solidFill>
                <a:latin typeface="Arial"/>
                <a:ea typeface="微软雅黑"/>
                <a:cs typeface="Arial"/>
              </a:rPr>
              <a:t>项目全面介绍（故意塞满字的一页，用于验证 overdense 报警）</a:t>
            </a:r>
          </a:p>
        </p:txBody>
      </p:sp>
      <p:sp>
        <p:nvSpPr>
          <p:cNvPr id="3" name="Rectangle 2"/>
          <p:cNvSpPr/>
          <p:nvPr/>
        </p:nvSpPr>
        <p:spPr>
          <a:xfrm>
            <a:off x="658368" y="1115568"/>
            <a:ext cx="10881360" cy="20116"/>
          </a:xfrm>
          <a:prstGeom prst="rect">
            <a:avLst/>
          </a:prstGeom>
          <a:solidFill>
            <a:srgbClr val="0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07040" cy="4937760"/>
          </a:xfrm>
          <a:prstGeom prst="rect">
            <a:avLst/>
          </a:prstGeom>
          <a:noFill/>
        </p:spPr>
        <p:txBody>
          <a:bodyPr wrap="square">
            <a:spAutoFit/>
          </a:bodyPr>
          <a:lstStyle/>
          <a:p>
            <a:pPr>
              <a:spcAft>
                <a:spcPts val="1000"/>
              </a:spcAft>
            </a:pPr>
            <a:r>
              <a:rPr sz="1800" b="0">
                <a:solidFill>
                  <a:srgbClr val="333333"/>
                </a:solidFill>
                <a:latin typeface="Arial"/>
                <a:ea typeface="微软雅黑"/>
                <a:cs typeface="Arial"/>
              </a:rPr>
              <a:t>▍ 我们的项目是一个面向大学生群体的综合性服务平台，整合了信息发布、资源共享、社交互动、在线交易、学习辅导、活动组织等多种功能于一体，旨在解决当代大学生在校园生活中遇到的各种各样的实际问题和困难，通过技术创新和模式创新的双重驱动，打造一个真正属于大学生自己的数字化生活生态圈，让每一位同学都能在这里找到自己需要的服务和帮助，同时也能够为他人提供自己力所能及的支持与贡献。我们的项目是一个面向大学生群体的综合性服务平台，整合了信息发布、资源共享、社交互动、在线交易、学习辅导、活动组织等多种功能于一体，旨在解决当代大学生在校园生活中遇到的各种各样的实际问题和困难，通过技术创新和模式创新的双重驱动，打造一个真正属于大学生自己的数字化生活生态圈，让每一位同学都能在这里找到自己需要的服务和帮助，同时也能够为他人提供自己力所能及的支持与贡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