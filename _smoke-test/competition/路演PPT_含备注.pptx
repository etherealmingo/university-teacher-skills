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强调测试条件。</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此页应拆页，不进入正式稿。</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这一页故意超过 220 字符，inspect 应当报警。</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开场只讲一个场景。</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011680"/>
            <a:ext cx="10515600" cy="1828800"/>
          </a:xfrm>
          <a:prstGeom prst="rect">
            <a:avLst/>
          </a:prstGeom>
          <a:noFill/>
        </p:spPr>
        <p:txBody>
          <a:bodyPr wrap="square">
            <a:spAutoFit/>
          </a:bodyPr>
          <a:lstStyle/>
          <a:p>
            <a:pPr algn="l"/>
            <a:r>
              <a:rPr sz="4000" b="1">
                <a:solidFill>
                  <a:srgbClr val="1F2D3D"/>
                </a:solidFill>
                <a:latin typeface="Arial"/>
                <a:ea typeface="微软雅黑"/>
                <a:cs typeface="Arial"/>
              </a:rPr>
              <a:t>【待补：项目名称】</a:t>
            </a:r>
          </a:p>
          <a:p>
            <a:pPr>
              <a:spcBef>
                <a:spcPts val="1400"/>
              </a:spcBef>
            </a:pPr>
            <a:r>
              <a:rPr sz="2000" b="0">
                <a:solidFill>
                  <a:srgbClr val="0B5C8A"/>
                </a:solidFill>
                <a:latin typeface="Arial"/>
                <a:ea typeface="宋体"/>
                <a:cs typeface="Arial"/>
              </a:rPr>
              <a:t>【待补：赛道未提供，请按赛事通知填写】</a:t>
            </a:r>
          </a:p>
        </p:txBody>
      </p:sp>
      <p:sp>
        <p:nvSpPr>
          <p:cNvPr id="3" name="TextBox 2"/>
          <p:cNvSpPr txBox="1"/>
          <p:nvPr/>
        </p:nvSpPr>
        <p:spPr>
          <a:xfrm>
            <a:off x="822960" y="4480560"/>
            <a:ext cx="10515600" cy="731520"/>
          </a:xfrm>
          <a:prstGeom prst="rect">
            <a:avLst/>
          </a:prstGeom>
          <a:noFill/>
        </p:spPr>
        <p:txBody>
          <a:bodyPr wrap="square">
            <a:spAutoFit/>
          </a:bodyPr>
          <a:lstStyle/>
          <a:p>
            <a:r>
              <a:rPr sz="1600" b="0">
                <a:solidFill>
                  <a:srgbClr val="333333"/>
                </a:solidFill>
                <a:latin typeface="Arial"/>
                <a:ea typeface="宋体"/>
                <a:cs typeface="Arial"/>
              </a:rPr>
              <a:t>【待补：负责人】</a:t>
            </a:r>
          </a:p>
        </p:txBody>
      </p:sp>
      <p:sp>
        <p:nvSpPr>
          <p:cNvPr id="4" name="Rectangle 3"/>
          <p:cNvSpPr/>
          <p:nvPr/>
        </p:nvSpPr>
        <p:spPr>
          <a:xfrm>
            <a:off x="502920" y="2148840"/>
            <a:ext cx="77724" cy="1005840"/>
          </a:xfrm>
          <a:prstGeom prst="rect">
            <a:avLst/>
          </a:prstGeom>
          <a:solidFill>
            <a:srgbClr val="0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a:spAutoFit/>
          </a:bodyPr>
          <a:lstStyle/>
          <a:p>
            <a:r>
              <a:rPr sz="2800" b="1">
                <a:solidFill>
                  <a:srgbClr val="1F2D3D"/>
                </a:solidFill>
                <a:latin typeface="Arial"/>
                <a:ea typeface="微软雅黑"/>
                <a:cs typeface="Arial"/>
              </a:rPr>
              <a:t>问题：谁在什么时候遇到什么麻烦</a:t>
            </a:r>
          </a:p>
        </p:txBody>
      </p:sp>
      <p:sp>
        <p:nvSpPr>
          <p:cNvPr id="3" name="Rectangle 2"/>
          <p:cNvSpPr/>
          <p:nvPr/>
        </p:nvSpPr>
        <p:spPr>
          <a:xfrm>
            <a:off x="658368" y="1115568"/>
            <a:ext cx="10881360" cy="20116"/>
          </a:xfrm>
          <a:prstGeom prst="rect">
            <a:avLst/>
          </a:prstGeom>
          <a:solidFill>
            <a:srgbClr val="0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607040" cy="4937760"/>
          </a:xfrm>
          <a:prstGeom prst="rect">
            <a:avLst/>
          </a:prstGeom>
          <a:noFill/>
        </p:spPr>
        <p:txBody>
          <a:bodyPr wrap="square">
            <a:spAutoFit/>
          </a:bodyPr>
          <a:lstStyle/>
          <a:p>
            <a:pPr>
              <a:spcAft>
                <a:spcPts val="1000"/>
              </a:spcAft>
            </a:pPr>
            <a:r>
              <a:rPr sz="1800" b="0">
                <a:solidFill>
                  <a:srgbClr val="333333"/>
                </a:solidFill>
                <a:latin typeface="Arial"/>
                <a:ea typeface="微软雅黑"/>
                <a:cs typeface="Arial"/>
              </a:rPr>
              <a:t>▍ 【待补：具体场景，含时间地点人物】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a:spAutoFit/>
          </a:bodyPr>
          <a:lstStyle/>
          <a:p>
            <a:r>
              <a:rPr sz="2800" b="1">
                <a:solidFill>
                  <a:srgbClr val="1F2D3D"/>
                </a:solidFill>
                <a:latin typeface="Arial"/>
                <a:ea typeface="微软雅黑"/>
                <a:cs typeface="Arial"/>
              </a:rPr>
              <a:t>验证结果</a:t>
            </a:r>
          </a:p>
        </p:txBody>
      </p:sp>
      <p:sp>
        <p:nvSpPr>
          <p:cNvPr id="3" name="Rectangle 2"/>
          <p:cNvSpPr/>
          <p:nvPr/>
        </p:nvSpPr>
        <p:spPr>
          <a:xfrm>
            <a:off x="658368" y="1115568"/>
            <a:ext cx="10881360" cy="20116"/>
          </a:xfrm>
          <a:prstGeom prst="rect">
            <a:avLst/>
          </a:prstGeom>
          <a:solidFill>
            <a:srgbClr val="0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31520" y="1371600"/>
          <a:ext cx="10698480" cy="768096"/>
        </p:xfrm>
        <a:graphic>
          <a:graphicData uri="http://schemas.openxmlformats.org/drawingml/2006/table">
            <a:tbl>
              <a:tblPr firstRow="1" bandRow="1">
                <a:tableStyleId>{5C22544A-7EE6-4342-B048-85BDC9FD1C3A}</a:tableStyleId>
              </a:tblPr>
              <a:tblGrid>
                <a:gridCol w="2674620"/>
                <a:gridCol w="2674620"/>
                <a:gridCol w="2674620"/>
                <a:gridCol w="2674620"/>
              </a:tblGrid>
              <a:tr h="384048">
                <a:tc>
                  <a:txBody>
                    <a:bodyPr/>
                    <a:lstStyle/>
                    <a:p>
                      <a:r>
                        <a:rPr sz="1400" b="1">
                          <a:solidFill>
                            <a:srgbClr val="333333"/>
                          </a:solidFill>
                          <a:latin typeface="Arial"/>
                          <a:ea typeface="微软雅黑"/>
                          <a:cs typeface="Arial"/>
                        </a:rPr>
                        <a:t>指标</a:t>
                      </a:r>
                    </a:p>
                  </a:txBody>
                  <a:tcPr/>
                </a:tc>
                <a:tc>
                  <a:txBody>
                    <a:bodyPr/>
                    <a:lstStyle/>
                    <a:p>
                      <a:r>
                        <a:rPr sz="1400" b="1">
                          <a:solidFill>
                            <a:srgbClr val="333333"/>
                          </a:solidFill>
                          <a:latin typeface="Arial"/>
                          <a:ea typeface="微软雅黑"/>
                          <a:cs typeface="Arial"/>
                        </a:rPr>
                        <a:t>我们的方案</a:t>
                      </a:r>
                    </a:p>
                  </a:txBody>
                  <a:tcPr/>
                </a:tc>
                <a:tc>
                  <a:txBody>
                    <a:bodyPr/>
                    <a:lstStyle/>
                    <a:p>
                      <a:r>
                        <a:rPr sz="1400" b="1">
                          <a:solidFill>
                            <a:srgbClr val="333333"/>
                          </a:solidFill>
                          <a:latin typeface="Arial"/>
                          <a:ea typeface="微软雅黑"/>
                          <a:cs typeface="Arial"/>
                        </a:rPr>
                        <a:t>对照方案</a:t>
                      </a:r>
                    </a:p>
                  </a:txBody>
                  <a:tcPr/>
                </a:tc>
                <a:tc>
                  <a:txBody>
                    <a:bodyPr/>
                    <a:lstStyle/>
                    <a:p>
                      <a:r>
                        <a:rPr sz="1400" b="1">
                          <a:solidFill>
                            <a:srgbClr val="333333"/>
                          </a:solidFill>
                          <a:latin typeface="Arial"/>
                          <a:ea typeface="微软雅黑"/>
                          <a:cs typeface="Arial"/>
                        </a:rPr>
                        <a:t>测试条件</a:t>
                      </a:r>
                    </a:p>
                  </a:txBody>
                  <a:tcPr/>
                </a:tc>
              </a:tr>
              <a:tr h="384048">
                <a:tc>
                  <a:txBody>
                    <a:bodyPr/>
                    <a:lstStyle/>
                    <a:p>
                      <a:r>
                        <a:rPr sz="1300" b="0">
                          <a:solidFill>
                            <a:srgbClr val="333333"/>
                          </a:solidFill>
                          <a:latin typeface="Arial"/>
                          <a:ea typeface="微软雅黑"/>
                          <a:cs typeface="Arial"/>
                        </a:rPr>
                        <a:t>【待补】</a:t>
                      </a:r>
                    </a:p>
                  </a:txBody>
                  <a:tcPr/>
                </a:tc>
                <a:tc>
                  <a:txBody>
                    <a:bodyPr/>
                    <a:lstStyle/>
                    <a:p>
                      <a:r>
                        <a:rPr sz="1300" b="0">
                          <a:solidFill>
                            <a:srgbClr val="333333"/>
                          </a:solidFill>
                          <a:latin typeface="Arial"/>
                          <a:ea typeface="微软雅黑"/>
                          <a:cs typeface="Arial"/>
                        </a:rPr>
                        <a:t>【待补】</a:t>
                      </a:r>
                    </a:p>
                  </a:txBody>
                  <a:tcPr/>
                </a:tc>
                <a:tc>
                  <a:txBody>
                    <a:bodyPr/>
                    <a:lstStyle/>
                    <a:p>
                      <a:r>
                        <a:rPr sz="1300" b="0">
                          <a:solidFill>
                            <a:srgbClr val="333333"/>
                          </a:solidFill>
                          <a:latin typeface="Arial"/>
                          <a:ea typeface="微软雅黑"/>
                          <a:cs typeface="Arial"/>
                        </a:rPr>
                        <a:t>【待补】</a:t>
                      </a:r>
                    </a:p>
                  </a:txBody>
                  <a:tcPr/>
                </a:tc>
                <a:tc>
                  <a:txBody>
                    <a:bodyPr/>
                    <a:lstStyle/>
                    <a:p>
                      <a:r>
                        <a:rPr sz="1300" b="0">
                          <a:solidFill>
                            <a:srgbClr val="333333"/>
                          </a:solidFill>
                          <a:latin typeface="Arial"/>
                          <a:ea typeface="微软雅黑"/>
                          <a:cs typeface="Arial"/>
                        </a:rPr>
                        <a:t>【待补：样本量/环境/时间】</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a:spAutoFit/>
          </a:bodyPr>
          <a:lstStyle/>
          <a:p>
            <a:r>
              <a:rPr sz="2800" b="1">
                <a:solidFill>
                  <a:srgbClr val="1F2D3D"/>
                </a:solidFill>
                <a:latin typeface="Arial"/>
                <a:ea typeface="微软雅黑"/>
                <a:cs typeface="Arial"/>
              </a:rPr>
              <a:t>项目全面介绍（故意塞满字的一页，用于验证 overdense 报警）</a:t>
            </a:r>
          </a:p>
        </p:txBody>
      </p:sp>
      <p:sp>
        <p:nvSpPr>
          <p:cNvPr id="3" name="Rectangle 2"/>
          <p:cNvSpPr/>
          <p:nvPr/>
        </p:nvSpPr>
        <p:spPr>
          <a:xfrm>
            <a:off x="658368" y="1115568"/>
            <a:ext cx="10881360" cy="20116"/>
          </a:xfrm>
          <a:prstGeom prst="rect">
            <a:avLst/>
          </a:prstGeom>
          <a:solidFill>
            <a:srgbClr val="0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607040" cy="4937760"/>
          </a:xfrm>
          <a:prstGeom prst="rect">
            <a:avLst/>
          </a:prstGeom>
          <a:noFill/>
        </p:spPr>
        <p:txBody>
          <a:bodyPr wrap="square">
            <a:spAutoFit/>
          </a:bodyPr>
          <a:lstStyle/>
          <a:p>
            <a:pPr>
              <a:spcAft>
                <a:spcPts val="1000"/>
              </a:spcAft>
            </a:pPr>
            <a:r>
              <a:rPr sz="1800" b="0">
                <a:solidFill>
                  <a:srgbClr val="333333"/>
                </a:solidFill>
                <a:latin typeface="Arial"/>
                <a:ea typeface="微软雅黑"/>
                <a:cs typeface="Arial"/>
              </a:rPr>
              <a:t>▍ 我们的项目是一个面向大学生群体的综合性服务平台，整合了信息发布、资源共享、社交互动、在线交易、学习辅导、活动组织等多种功能于一体，旨在解决当代大学生在校园生活中遇到的各种各样的实际问题和困难，通过技术创新和模式创新的双重驱动，打造一个真正属于大学生自己的数字化生活生态圈，让每一位同学都能在这里找到自己需要的服务和帮助，同时也能够为他人提供自己力所能及的支持与贡献。</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